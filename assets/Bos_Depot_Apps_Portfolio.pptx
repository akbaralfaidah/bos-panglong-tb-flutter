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8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2647"/>
            </a:gs>
            <a:gs pos="100000">
              <a:srgbClr val="144272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-2286000"/>
            <a:ext cx="5486400" cy="54864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457200" y="4572000"/>
            <a:ext cx="3657600" cy="36576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59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Poppins"/>
              </a:defRPr>
            </a:pPr>
            <a:r>
              <a:t>Bos Depot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59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39C12"/>
                </a:solidFill>
                <a:latin typeface="Poppins"/>
              </a:defRPr>
            </a:pPr>
            <a:r>
              <a:t>Apps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55848"/>
            <a:ext cx="4572000" cy="742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ABBCC"/>
                </a:solidFill>
                <a:latin typeface="Poppins"/>
              </a:defRPr>
            </a:pPr>
            <a:r>
              <a:rPr dirty="0"/>
              <a:t>Sistem Kasir Pintar &amp; </a:t>
            </a:r>
            <a:r>
              <a:rPr dirty="0" err="1"/>
              <a:t>Manajemen</a:t>
            </a:r>
            <a:r>
              <a:rPr dirty="0"/>
              <a:t> Gudang untuk</a:t>
            </a:r>
            <a:br>
              <a:rPr dirty="0"/>
            </a:br>
            <a:r>
              <a:rPr dirty="0"/>
              <a:t>Industri Bahan </a:t>
            </a:r>
            <a:r>
              <a:rPr dirty="0" err="1"/>
              <a:t>Bangunan</a:t>
            </a:r>
            <a:r>
              <a:rPr dirty="0"/>
              <a:t> — </a:t>
            </a:r>
            <a:endParaRPr lang="en-US" dirty="0"/>
          </a:p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ABBCC"/>
                </a:solidFill>
                <a:latin typeface="Poppins"/>
              </a:defRPr>
            </a:pPr>
            <a:r>
              <a:rPr dirty="0" err="1"/>
              <a:t>dibangun</a:t>
            </a:r>
            <a:r>
              <a:rPr dirty="0"/>
              <a:t> dengan Flutter &amp; Firebase.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3017520" cy="548640"/>
          </a:xfrm>
          <a:prstGeom prst="roundRect">
            <a:avLst>
              <a:gd name="adj" fmla="val 5000"/>
            </a:avLst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Poppins"/>
              </a:defRPr>
            </a:pPr>
            <a:r>
              <a:t>👨‍💻  Akbar Alfaidah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572000"/>
            <a:ext cx="2743200" cy="371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8899"/>
                </a:solidFill>
                <a:latin typeface="Poppins"/>
              </a:defRPr>
            </a:pPr>
            <a:r>
              <a:rPr lang="en-US" dirty="0"/>
              <a:t>Programmer web and mobile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8899"/>
                </a:solidFill>
                <a:latin typeface="Poppins"/>
              </a:defRPr>
            </a:pPr>
            <a:endParaRPr dirty="0"/>
          </a:p>
        </p:txBody>
      </p:sp>
      <p:pic>
        <p:nvPicPr>
          <p:cNvPr id="11" name="Picture 10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429768"/>
            <a:ext cx="3704696" cy="6126480"/>
          </a:xfrm>
          <a:prstGeom prst="rect">
            <a:avLst/>
          </a:prstGeom>
        </p:spPr>
      </p:pic>
      <p:pic>
        <p:nvPicPr>
          <p:cNvPr id="12" name="Picture 11" descr="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429768"/>
            <a:ext cx="3704696" cy="6126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78992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56677"/>
                </a:solidFill>
                <a:latin typeface="Poppins"/>
              </a:defRPr>
            </a:pPr>
            <a:r>
              <a:t>01 /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45566"/>
                </a:solidFill>
                <a:latin typeface="Poppins"/>
              </a:defRPr>
            </a:pPr>
            <a:r>
              <a:t>●  Bos Depot Apps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EBF4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91440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defRPr sz="900" b="1">
                <a:solidFill>
                  <a:srgbClr val="F39C12"/>
                </a:solidFill>
                <a:latin typeface="Poppins"/>
              </a:defRPr>
            </a:pPr>
            <a:r>
              <a:t>LATAR BELAKANG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A2647"/>
                </a:solidFill>
                <a:latin typeface="Poppins"/>
              </a:defRPr>
            </a:pPr>
            <a:r>
              <a:t>Masalah yang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A2647"/>
                </a:solidFill>
                <a:latin typeface="Poppins"/>
              </a:defRPr>
            </a:pPr>
            <a:r>
              <a:t>Ingin Dipecahkan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Poppins"/>
              </a:defRPr>
            </a:pPr>
            <a:r>
              <a:t>Usaha panglong kayu &amp; toko bangunan di Indonesia masih dikelola secara tradisional.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3182112"/>
            <a:ext cx="91440" cy="9144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Poppins"/>
              </a:rPr>
              <a:t>Pencatatan Manual — </a:t>
            </a:r>
            <a:r>
              <a:rPr sz="1200">
                <a:solidFill>
                  <a:srgbClr val="64748B"/>
                </a:solidFill>
                <a:latin typeface="Poppins"/>
              </a:rPr>
              <a:t>Buku tulis rawan hilang &amp; salah hitung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685032"/>
            <a:ext cx="91440" cy="9144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Poppins"/>
              </a:rPr>
              <a:t>Tanpa Laporan — </a:t>
            </a:r>
            <a:r>
              <a:rPr sz="1200">
                <a:solidFill>
                  <a:srgbClr val="64748B"/>
                </a:solidFill>
                <a:latin typeface="Poppins"/>
              </a:rPr>
              <a:t>Tidak ada laporan keuangan terstruktur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187952"/>
            <a:ext cx="91440" cy="9144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Poppins"/>
              </a:rPr>
              <a:t>Nota Tulis Tangan — </a:t>
            </a:r>
            <a:r>
              <a:rPr sz="1200">
                <a:solidFill>
                  <a:srgbClr val="64748B"/>
                </a:solidFill>
                <a:latin typeface="Poppins"/>
              </a:rPr>
              <a:t>Tidak profesional &amp; tidak terdokumentasi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690872"/>
            <a:ext cx="91440" cy="9144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6177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Poppins"/>
              </a:rPr>
              <a:t>Tanpa Kontrol Stok — </a:t>
            </a:r>
            <a:r>
              <a:rPr sz="1200">
                <a:solidFill>
                  <a:srgbClr val="64748B"/>
                </a:solidFill>
                <a:latin typeface="Poppins"/>
              </a:rPr>
              <a:t>Sering kehabisan barang tanpa sadar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1097280"/>
            <a:ext cx="4389120" cy="4572000"/>
          </a:xfrm>
          <a:prstGeom prst="roundRect">
            <a:avLst>
              <a:gd name="adj" fmla="val 5000"/>
            </a:avLst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39C12"/>
                </a:solidFill>
                <a:latin typeface="Poppins"/>
              </a:defRPr>
            </a:pPr>
            <a:r>
              <a:t>DAMPAK MASALAH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E293B"/>
                </a:solidFill>
                <a:latin typeface="Poppins"/>
              </a:defRPr>
            </a:pPr>
            <a:r>
              <a:t>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Poppins"/>
              </a:defRPr>
            </a:pPr>
            <a:r>
              <a:t>Kerugian Tak Terdeteksi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99AA"/>
                </a:solidFill>
                <a:latin typeface="Poppins"/>
              </a:defRPr>
            </a:pPr>
            <a:r>
              <a:t>Tidak tahu mana produk rugi / untung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971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E293B"/>
                </a:solidFill>
                <a:latin typeface="Poppins"/>
              </a:defRPr>
            </a:pPr>
            <a:r>
              <a:t>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971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Poppins"/>
              </a:defRPr>
            </a:pPr>
            <a:r>
              <a:t>Proses Lambat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99AA"/>
                </a:solidFill>
                <a:latin typeface="Poppins"/>
              </a:defRPr>
            </a:pPr>
            <a:r>
              <a:t>Hitung manual per transaksi &gt; 5 menit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931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E293B"/>
                </a:solidFill>
                <a:latin typeface="Poppins"/>
              </a:defRPr>
            </a:pPr>
            <a:r>
              <a:t>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931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Poppins"/>
              </a:defRPr>
            </a:pPr>
            <a:r>
              <a:t>Piutang Hilang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206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99AA"/>
                </a:solidFill>
                <a:latin typeface="Poppins"/>
              </a:defRPr>
            </a:pPr>
            <a:r>
              <a:t>Lupa catat hutang pelanggan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892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E293B"/>
                </a:solidFill>
                <a:latin typeface="Poppins"/>
              </a:defRPr>
            </a:pPr>
            <a: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892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Poppins"/>
              </a:defRPr>
            </a:pPr>
            <a:r>
              <a:t>Tanpa Evaluasi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5166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99AA"/>
                </a:solidFill>
                <a:latin typeface="Poppins"/>
              </a:defRPr>
            </a:pPr>
            <a:r>
              <a:t>Tidak bisa analisa tren penjualan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Poppins"/>
              </a:defRPr>
            </a:pPr>
            <a:r>
              <a:t>02 / 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Poppins"/>
              </a:defRPr>
            </a:pPr>
            <a:r>
              <a:t>●  Bos Depot Apps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7315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DF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defRPr sz="900" b="1">
                <a:solidFill>
                  <a:srgbClr val="D4850A"/>
                </a:solidFill>
                <a:latin typeface="Poppins"/>
              </a:defRPr>
            </a:pPr>
            <a:r>
              <a:t>SOLUSI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A2647"/>
                </a:solidFill>
                <a:latin typeface="Poppins"/>
              </a:defRPr>
            </a:pPr>
            <a:r>
              <a:t>Satu Aplikasi untuk Semua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Poppins"/>
              </a:defRPr>
            </a:pPr>
            <a:r>
              <a:rPr dirty="0"/>
              <a:t>Bos Depot Apps </a:t>
            </a:r>
            <a:r>
              <a:rPr dirty="0" err="1"/>
              <a:t>mengintegrasikan</a:t>
            </a:r>
            <a:r>
              <a:rPr dirty="0"/>
              <a:t> </a:t>
            </a:r>
            <a:r>
              <a:rPr dirty="0" err="1"/>
              <a:t>seluruh</a:t>
            </a:r>
            <a:r>
              <a:rPr dirty="0"/>
              <a:t> </a:t>
            </a:r>
            <a:r>
              <a:rPr dirty="0" err="1"/>
              <a:t>operasional</a:t>
            </a:r>
            <a:r>
              <a:rPr dirty="0"/>
              <a:t> </a:t>
            </a:r>
            <a:r>
              <a:rPr dirty="0" err="1"/>
              <a:t>toko</a:t>
            </a:r>
            <a:r>
              <a:rPr dirty="0"/>
              <a:t> </a:t>
            </a:r>
            <a:r>
              <a:rPr dirty="0" err="1"/>
              <a:t>bangunan</a:t>
            </a:r>
            <a:r>
              <a:rPr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genggaman</a:t>
            </a:r>
            <a:r>
              <a:rPr lang="en-ID" dirty="0"/>
              <a:t>.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3054096"/>
            <a:ext cx="2728762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31638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93B"/>
                </a:solidFill>
                <a:latin typeface="Poppins"/>
              </a:defRPr>
            </a:pPr>
            <a:r>
              <a:t>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1455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293B"/>
                </a:solidFill>
                <a:latin typeface="Poppins"/>
              </a:defRPr>
            </a:pPr>
            <a:r>
              <a:t>Smart POS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401568"/>
            <a:ext cx="1920240" cy="512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Poppins"/>
              </a:defRPr>
            </a:pPr>
            <a:r>
              <a:rPr dirty="0"/>
              <a:t>Kasir digital dengan </a:t>
            </a:r>
            <a:r>
              <a:rPr dirty="0" err="1"/>
              <a:t>negosiasi</a:t>
            </a:r>
            <a:br>
              <a:rPr dirty="0"/>
            </a:br>
            <a:r>
              <a:rPr dirty="0" err="1"/>
              <a:t>harga</a:t>
            </a:r>
            <a:r>
              <a:rPr dirty="0"/>
              <a:t> &amp; alert keuntungan/</a:t>
            </a:r>
            <a:r>
              <a:rPr dirty="0" err="1"/>
              <a:t>kerugian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3597442" y="3054096"/>
            <a:ext cx="3050246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34602" y="3163824"/>
            <a:ext cx="5648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93B"/>
                </a:solidFill>
                <a:latin typeface="Poppins"/>
              </a:defRPr>
            </a:pPr>
            <a:r>
              <a:t>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1801" y="3145536"/>
            <a:ext cx="2146469" cy="259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293B"/>
                </a:solidFill>
                <a:latin typeface="Poppins"/>
              </a:defRPr>
            </a:pPr>
            <a:r>
              <a:rPr dirty="0"/>
              <a:t>Gudang Digital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801" y="3401568"/>
            <a:ext cx="2146469" cy="512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Poppins"/>
              </a:defRPr>
            </a:pPr>
            <a:r>
              <a:t>Stok otomatis terpotong saat</a:t>
            </a:r>
            <a:br/>
            <a:r>
              <a:t>transaksi, barcode scanner built-in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05656"/>
            <a:ext cx="2728762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42153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93B"/>
                </a:solidFill>
                <a:latin typeface="Poppins"/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19709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293B"/>
                </a:solidFill>
                <a:latin typeface="Poppins"/>
              </a:defRPr>
            </a:pPr>
            <a:r>
              <a:t>Analitik Bisnis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453128"/>
            <a:ext cx="1920240" cy="512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Poppins"/>
              </a:defRPr>
            </a:pPr>
            <a:r>
              <a:rPr dirty="0"/>
              <a:t>Dashboard profit real-time, </a:t>
            </a:r>
            <a:r>
              <a:rPr dirty="0" err="1"/>
              <a:t>grafik</a:t>
            </a:r>
            <a:br>
              <a:rPr dirty="0"/>
            </a:br>
            <a:r>
              <a:rPr dirty="0" err="1"/>
              <a:t>tren</a:t>
            </a:r>
            <a:r>
              <a:rPr dirty="0"/>
              <a:t>, top </a:t>
            </a:r>
            <a:r>
              <a:rPr dirty="0" err="1"/>
              <a:t>produk</a:t>
            </a:r>
            <a:r>
              <a:rPr dirty="0"/>
              <a:t> </a:t>
            </a:r>
            <a:r>
              <a:rPr dirty="0" err="1"/>
              <a:t>terlaris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3597442" y="4105656"/>
            <a:ext cx="3050246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34602" y="4215384"/>
            <a:ext cx="5648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93B"/>
                </a:solidFill>
                <a:latin typeface="Poppins"/>
              </a:defRPr>
            </a:pPr>
            <a:r>
              <a:t>🖨️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1801" y="4197096"/>
            <a:ext cx="2146469" cy="259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293B"/>
                </a:solidFill>
                <a:latin typeface="Poppins"/>
              </a:defRPr>
            </a:pPr>
            <a:r>
              <a:t>Cetak Nota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1801" y="4453128"/>
            <a:ext cx="2146469" cy="371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Poppins"/>
              </a:defRPr>
            </a:pPr>
            <a:r>
              <a:t>Thermal printer 80mm via</a:t>
            </a:r>
            <a:br/>
            <a:r>
              <a:t>Bluetooth + share ke WhatsApp</a:t>
            </a:r>
          </a:p>
        </p:txBody>
      </p:sp>
      <p:pic>
        <p:nvPicPr>
          <p:cNvPr id="21" name="Picture 20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48640"/>
            <a:ext cx="3240405" cy="57607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78992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Poppins"/>
              </a:defRPr>
            </a:pPr>
            <a:r>
              <a:t>03 /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Poppins"/>
              </a:defRPr>
            </a:pPr>
            <a:r>
              <a:t>●  Bos Depot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EBF4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25" y="640080"/>
            <a:ext cx="3188970" cy="56692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0" y="109728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defRPr sz="900" b="1">
                <a:solidFill>
                  <a:srgbClr val="00796B"/>
                </a:solidFill>
                <a:latin typeface="Poppins"/>
              </a:defRPr>
            </a:pPr>
            <a:r>
              <a:t>FITUR UTAMA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A2647"/>
                </a:solidFill>
                <a:latin typeface="Poppins"/>
              </a:defRPr>
            </a:pPr>
            <a:r>
              <a:t>Kasir Pintar dengan Negosiasi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13120" y="270205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Poppins"/>
              </a:defRPr>
            </a:pPr>
            <a:r>
              <a:rPr dirty="0"/>
              <a:t>Sistem </a:t>
            </a:r>
            <a:r>
              <a:rPr dirty="0" err="1"/>
              <a:t>kasir</a:t>
            </a:r>
            <a:r>
              <a:rPr dirty="0"/>
              <a:t> yang </a:t>
            </a:r>
            <a:r>
              <a:rPr dirty="0" err="1"/>
              <a:t>memahami</a:t>
            </a:r>
            <a:r>
              <a:rPr dirty="0"/>
              <a:t> </a:t>
            </a:r>
            <a:r>
              <a:rPr dirty="0" err="1"/>
              <a:t>dinamika</a:t>
            </a:r>
            <a:r>
              <a:rPr dirty="0"/>
              <a:t> </a:t>
            </a:r>
            <a:r>
              <a:rPr dirty="0" err="1"/>
              <a:t>harga</a:t>
            </a:r>
            <a:r>
              <a:rPr dirty="0"/>
              <a:t> di </a:t>
            </a:r>
            <a:r>
              <a:rPr dirty="0" err="1"/>
              <a:t>toko</a:t>
            </a:r>
            <a:r>
              <a:rPr dirty="0"/>
              <a:t> </a:t>
            </a:r>
            <a:r>
              <a:rPr dirty="0" err="1"/>
              <a:t>bangunan</a:t>
            </a:r>
            <a:r>
              <a:rPr dirty="0"/>
              <a:t> — </a:t>
            </a:r>
            <a:r>
              <a:rPr dirty="0" err="1"/>
              <a:t>dimana</a:t>
            </a:r>
            <a:r>
              <a:rPr dirty="0"/>
              <a:t> </a:t>
            </a:r>
            <a:r>
              <a:rPr dirty="0" err="1"/>
              <a:t>tawar-menawar</a:t>
            </a:r>
            <a:r>
              <a:rPr dirty="0"/>
              <a:t> adalah </a:t>
            </a:r>
            <a:r>
              <a:rPr dirty="0" err="1"/>
              <a:t>hal</a:t>
            </a:r>
            <a:r>
              <a:rPr dirty="0"/>
              <a:t> </a:t>
            </a:r>
            <a:r>
              <a:rPr dirty="0" err="1"/>
              <a:t>biasa</a:t>
            </a:r>
            <a:r>
              <a:rPr dirty="0"/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5913120" y="3323844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0" y="325069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Poppins"/>
              </a:rPr>
              <a:t>Negosiasi Real-time — </a:t>
            </a:r>
            <a:r>
              <a:rPr sz="1200">
                <a:solidFill>
                  <a:srgbClr val="64748B"/>
                </a:solidFill>
                <a:latin typeface="Poppins"/>
              </a:rPr>
              <a:t>Ubah harga per item, sistem tampilkan estimasi untung/rugi</a:t>
            </a:r>
          </a:p>
        </p:txBody>
      </p:sp>
      <p:sp>
        <p:nvSpPr>
          <p:cNvPr id="8" name="Oval 7"/>
          <p:cNvSpPr/>
          <p:nvPr/>
        </p:nvSpPr>
        <p:spPr>
          <a:xfrm>
            <a:off x="5913120" y="3826764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0" y="375361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Poppins"/>
              </a:rPr>
              <a:t>Multi-Pembayaran — </a:t>
            </a:r>
            <a:r>
              <a:rPr sz="1200">
                <a:solidFill>
                  <a:srgbClr val="64748B"/>
                </a:solidFill>
                <a:latin typeface="Poppins"/>
              </a:rPr>
              <a:t>Tunai, Transfer, QRIS, dan sistem Hutang</a:t>
            </a:r>
          </a:p>
        </p:txBody>
      </p:sp>
      <p:sp>
        <p:nvSpPr>
          <p:cNvPr id="10" name="Oval 9"/>
          <p:cNvSpPr/>
          <p:nvPr/>
        </p:nvSpPr>
        <p:spPr>
          <a:xfrm>
            <a:off x="5913120" y="4329684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6000" y="425653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Poppins"/>
              </a:rPr>
              <a:t>Dual Pricing — </a:t>
            </a:r>
            <a:r>
              <a:rPr sz="1200">
                <a:solidFill>
                  <a:srgbClr val="64748B"/>
                </a:solidFill>
                <a:latin typeface="Poppins"/>
              </a:rPr>
              <a:t>Harga eceran (Pcs) dan grosir (Dus, Kodi, Kubik)</a:t>
            </a:r>
          </a:p>
        </p:txBody>
      </p:sp>
      <p:sp>
        <p:nvSpPr>
          <p:cNvPr id="12" name="Oval 11"/>
          <p:cNvSpPr/>
          <p:nvPr/>
        </p:nvSpPr>
        <p:spPr>
          <a:xfrm>
            <a:off x="5913120" y="4832604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96000" y="475945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Poppins"/>
              </a:rPr>
              <a:t>Auto-Stok — </a:t>
            </a:r>
            <a:r>
              <a:rPr sz="1200">
                <a:solidFill>
                  <a:srgbClr val="64748B"/>
                </a:solidFill>
                <a:latin typeface="Poppins"/>
              </a:rPr>
              <a:t>Stok gudang otomatis berkurang saat checkout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Poppins"/>
              </a:defRPr>
            </a:pPr>
            <a:r>
              <a:t>04 /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Poppins"/>
              </a:defRPr>
            </a:pPr>
            <a:r>
              <a:t>●  Bos Depot Apps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73152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DF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defRPr sz="900" b="1">
                <a:solidFill>
                  <a:srgbClr val="D4850A"/>
                </a:solidFill>
                <a:latin typeface="Poppins"/>
              </a:defRPr>
            </a:pPr>
            <a:r>
              <a:t>FITUR UTAMA 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A2647"/>
                </a:solidFill>
                <a:latin typeface="Poppins"/>
              </a:defRPr>
            </a:pPr>
            <a:r>
              <a:t>Manajemen Gudang Terintegrasi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913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Poppins"/>
              </a:defRPr>
            </a:pPr>
            <a:r>
              <a:t>Kelola ratusan produk kayu &amp; bangunan dengan sistem yang dirancang khusus untuk industri ini.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3049524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97637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1E293B"/>
                </a:solidFill>
                <a:latin typeface="Poppins"/>
              </a:rPr>
              <a:t>Kayu &amp; </a:t>
            </a:r>
            <a:r>
              <a:rPr sz="1200" b="1" dirty="0" err="1">
                <a:solidFill>
                  <a:srgbClr val="1E293B"/>
                </a:solidFill>
                <a:latin typeface="Poppins"/>
              </a:rPr>
              <a:t>Bangunan</a:t>
            </a:r>
            <a:r>
              <a:rPr sz="1200" b="1" dirty="0">
                <a:solidFill>
                  <a:srgbClr val="1E293B"/>
                </a:solidFill>
                <a:latin typeface="Poppins"/>
              </a:rPr>
              <a:t> — </a:t>
            </a:r>
            <a:r>
              <a:rPr sz="1200" dirty="0">
                <a:solidFill>
                  <a:srgbClr val="64748B"/>
                </a:solidFill>
                <a:latin typeface="Poppins"/>
              </a:rPr>
              <a:t>Form input terpisah: </a:t>
            </a:r>
            <a:r>
              <a:rPr sz="1200" dirty="0" err="1">
                <a:solidFill>
                  <a:srgbClr val="64748B"/>
                </a:solidFill>
                <a:latin typeface="Poppins"/>
              </a:rPr>
              <a:t>kayu</a:t>
            </a:r>
            <a:r>
              <a:rPr sz="1200" dirty="0">
                <a:solidFill>
                  <a:srgbClr val="64748B"/>
                </a:solidFill>
                <a:latin typeface="Poppins"/>
              </a:rPr>
              <a:t> (kelas, </a:t>
            </a:r>
            <a:r>
              <a:rPr sz="1200" dirty="0" err="1">
                <a:solidFill>
                  <a:srgbClr val="64748B"/>
                </a:solidFill>
                <a:latin typeface="Poppins"/>
              </a:rPr>
              <a:t>dimensi</a:t>
            </a:r>
            <a:r>
              <a:rPr sz="1200" dirty="0">
                <a:solidFill>
                  <a:srgbClr val="64748B"/>
                </a:solidFill>
                <a:latin typeface="Poppins"/>
              </a:rPr>
              <a:t>, </a:t>
            </a:r>
            <a:r>
              <a:rPr sz="1200" dirty="0" err="1">
                <a:solidFill>
                  <a:srgbClr val="64748B"/>
                </a:solidFill>
                <a:latin typeface="Poppins"/>
              </a:rPr>
              <a:t>kubik</a:t>
            </a:r>
            <a:r>
              <a:rPr sz="1200" dirty="0">
                <a:solidFill>
                  <a:srgbClr val="64748B"/>
                </a:solidFill>
                <a:latin typeface="Poppins"/>
              </a:rPr>
              <a:t>) &amp; </a:t>
            </a:r>
            <a:r>
              <a:rPr sz="1200" dirty="0" err="1">
                <a:solidFill>
                  <a:srgbClr val="64748B"/>
                </a:solidFill>
                <a:latin typeface="Poppins"/>
              </a:rPr>
              <a:t>bangunan</a:t>
            </a:r>
            <a:r>
              <a:rPr sz="1200" dirty="0">
                <a:solidFill>
                  <a:srgbClr val="64748B"/>
                </a:solidFill>
                <a:latin typeface="Poppins"/>
              </a:rPr>
              <a:t> (Pcs, Kg, Dus)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552444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47929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Poppins"/>
              </a:rPr>
              <a:t>Barcode System — </a:t>
            </a:r>
            <a:r>
              <a:rPr sz="1200">
                <a:solidFill>
                  <a:srgbClr val="64748B"/>
                </a:solidFill>
                <a:latin typeface="Poppins"/>
              </a:rPr>
              <a:t>Generate, cetak label, dan scan barcode untuk percepat input kasir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055364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98221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Poppins"/>
              </a:rPr>
              <a:t>Smart Search — </a:t>
            </a:r>
            <a:r>
              <a:rPr sz="1200">
                <a:solidFill>
                  <a:srgbClr val="64748B"/>
                </a:solidFill>
                <a:latin typeface="Poppins"/>
              </a:rPr>
              <a:t>Pencarian fuzzy yang toleran terhadap typo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558284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48513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Poppins"/>
              </a:rPr>
              <a:t>Drag &amp; Drop — </a:t>
            </a:r>
            <a:r>
              <a:rPr sz="1200">
                <a:solidFill>
                  <a:srgbClr val="64748B"/>
                </a:solidFill>
                <a:latin typeface="Poppins"/>
              </a:rPr>
              <a:t>Atur urutan produk sesuai prioritas toko</a:t>
            </a:r>
          </a:p>
        </p:txBody>
      </p:sp>
      <p:pic>
        <p:nvPicPr>
          <p:cNvPr id="13" name="Picture 12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548640"/>
            <a:ext cx="3240405" cy="5760720"/>
          </a:xfrm>
          <a:prstGeom prst="rect">
            <a:avLst/>
          </a:prstGeom>
        </p:spPr>
      </p:pic>
      <p:pic>
        <p:nvPicPr>
          <p:cNvPr id="14" name="Picture 13" descr="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548640"/>
            <a:ext cx="3240405" cy="5760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78992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Poppins"/>
              </a:defRPr>
            </a:pPr>
            <a:r>
              <a:t>05 /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Poppins"/>
              </a:defRPr>
            </a:pPr>
            <a:r>
              <a:t>●  Bos Depot Apps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2647"/>
            </a:gs>
            <a:gs pos="100000">
              <a:srgbClr val="144272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3240405" cy="5760720"/>
          </a:xfrm>
          <a:prstGeom prst="rect">
            <a:avLst/>
          </a:prstGeom>
        </p:spPr>
      </p:pic>
      <p:pic>
        <p:nvPicPr>
          <p:cNvPr id="4" name="Picture 3" descr="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548640"/>
            <a:ext cx="3240405" cy="57607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0" y="109728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1A3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Poppins"/>
              </a:defRPr>
            </a:pPr>
            <a:r>
              <a:t>FITUR UTAMA #3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Poppins"/>
              </a:defRPr>
            </a:pPr>
            <a:r>
              <a:t>Laporan &amp; Analitik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39C12"/>
                </a:solidFill>
                <a:latin typeface="Poppins"/>
              </a:defRPr>
            </a:pPr>
            <a:r>
              <a:t>Bisnis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ABBCC"/>
                </a:solidFill>
                <a:latin typeface="Poppins"/>
              </a:defRPr>
            </a:pPr>
            <a:r>
              <a:t>Pemilik toko bisa memantau kesehatan bisnis tanpa perlu buka laptop.</a:t>
            </a:r>
          </a:p>
        </p:txBody>
      </p:sp>
      <p:sp>
        <p:nvSpPr>
          <p:cNvPr id="9" name="Oval 8"/>
          <p:cNvSpPr/>
          <p:nvPr/>
        </p:nvSpPr>
        <p:spPr>
          <a:xfrm>
            <a:off x="6400800" y="3364992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32918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Poppins"/>
              </a:rPr>
              <a:t>Top 5 Produk — </a:t>
            </a:r>
            <a:r>
              <a:rPr sz="1200">
                <a:solidFill>
                  <a:srgbClr val="BBCCDD"/>
                </a:solidFill>
                <a:latin typeface="Poppins"/>
              </a:rPr>
              <a:t>Analisa produk terlaris dengan pie chart interaktif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3867912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37947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Poppins"/>
              </a:rPr>
              <a:t>Rekap Pendapatan — </a:t>
            </a:r>
            <a:r>
              <a:rPr sz="1200">
                <a:solidFill>
                  <a:srgbClr val="BBCCDD"/>
                </a:solidFill>
                <a:latin typeface="Poppins"/>
              </a:rPr>
              <a:t>Breakdown omset, modal, bensin, dan profit bersih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4370832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42976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Poppins"/>
              </a:rPr>
              <a:t>Export CSV — </a:t>
            </a:r>
            <a:r>
              <a:rPr sz="1200">
                <a:solidFill>
                  <a:srgbClr val="BBCCDD"/>
                </a:solidFill>
                <a:latin typeface="Poppins"/>
              </a:rPr>
              <a:t>Download laporan ke Excel dalam satu ketukan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4873752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48006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Poppins"/>
              </a:rPr>
              <a:t>Visualisasi Alokasi — </a:t>
            </a:r>
            <a:r>
              <a:rPr sz="1200">
                <a:solidFill>
                  <a:srgbClr val="BBCCDD"/>
                </a:solidFill>
                <a:latin typeface="Poppins"/>
              </a:rPr>
              <a:t>Donut chart pembagian omset secara visual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56677"/>
                </a:solidFill>
                <a:latin typeface="Poppins"/>
              </a:defRPr>
            </a:pPr>
            <a:r>
              <a:t>06 /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45566"/>
                </a:solidFill>
                <a:latin typeface="Poppins"/>
              </a:defRPr>
            </a:pPr>
            <a:r>
              <a:t>●  Bos Depot Apps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73152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defRPr sz="900" b="1">
                <a:solidFill>
                  <a:srgbClr val="F39C12"/>
                </a:solidFill>
                <a:latin typeface="Poppins"/>
              </a:defRPr>
            </a:pPr>
            <a:r>
              <a:t>FITUR UTAMA #4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A2647"/>
                </a:solidFill>
                <a:latin typeface="Poppins"/>
              </a:defRPr>
            </a:pPr>
            <a:r>
              <a:t>Nota Digital &amp; Cetak Thermal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2140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Poppins"/>
              </a:defRPr>
            </a:pPr>
            <a:r>
              <a:t>Nota profesional yang bisa dicetak langsung ke printer thermal 80mm atau dibagikan via WhatsApp.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98648"/>
            <a:ext cx="246888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300837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93B"/>
                </a:solidFill>
                <a:latin typeface="Poppins"/>
              </a:defRPr>
            </a:pPr>
            <a:r>
              <a:t>🖨️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9900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293B"/>
                </a:solidFill>
                <a:latin typeface="Poppins"/>
              </a:defRPr>
            </a:pPr>
            <a:r>
              <a:t>Cetak Bluetooth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246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Poppins"/>
              </a:defRPr>
            </a:pPr>
            <a:r>
              <a:t>Support printer Android</a:t>
            </a:r>
            <a:br/>
            <a:r>
              <a:t>&amp; iOS via Bluetooth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898648"/>
            <a:ext cx="246888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40" y="300837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93B"/>
                </a:solidFill>
                <a:latin typeface="Poppins"/>
              </a:defRPr>
            </a:pPr>
            <a:r>
              <a:t>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40" y="29900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293B"/>
                </a:solidFill>
                <a:latin typeface="Poppins"/>
              </a:defRPr>
            </a:pPr>
            <a:r>
              <a:t>Share WhatsApp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3246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Poppins"/>
              </a:defRPr>
            </a:pPr>
            <a:r>
              <a:t>Kirim nota langsung ke</a:t>
            </a:r>
            <a:br/>
            <a:r>
              <a:t>pelanggan via WA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50208"/>
            <a:ext cx="246888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405993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93B"/>
                </a:solidFill>
                <a:latin typeface="Poppins"/>
              </a:defRPr>
            </a:pPr>
            <a:r>
              <a:t>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0416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293B"/>
                </a:solidFill>
                <a:latin typeface="Poppins"/>
              </a:defRPr>
            </a:pPr>
            <a:r>
              <a:t>Cetak Ulang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297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Poppins"/>
              </a:defRPr>
            </a:pPr>
            <a:r>
              <a:t>Akses riwayat &amp; cetak</a:t>
            </a:r>
            <a:br/>
            <a:r>
              <a:t>ulang nota kapan saja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3950208"/>
            <a:ext cx="246888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20440" y="405993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93B"/>
                </a:solidFill>
                <a:latin typeface="Poppins"/>
              </a:defRPr>
            </a:pPr>
            <a:r>
              <a:t>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40416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293B"/>
                </a:solidFill>
                <a:latin typeface="Poppins"/>
              </a:defRPr>
            </a:pPr>
            <a:r>
              <a:t>Bukti Pembayaran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40" y="4297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Poppins"/>
              </a:defRPr>
            </a:pPr>
            <a:r>
              <a:t>Upload foto bukti</a:t>
            </a:r>
            <a:br/>
            <a:r>
              <a:t>transfer/pembayaran</a:t>
            </a:r>
          </a:p>
        </p:txBody>
      </p:sp>
      <p:pic>
        <p:nvPicPr>
          <p:cNvPr id="21" name="Picture 20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548640"/>
            <a:ext cx="3240405" cy="5760720"/>
          </a:xfrm>
          <a:prstGeom prst="rect">
            <a:avLst/>
          </a:prstGeom>
        </p:spPr>
      </p:pic>
      <p:pic>
        <p:nvPicPr>
          <p:cNvPr id="22" name="Picture 21" descr="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548640"/>
            <a:ext cx="3240405" cy="57607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78992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Poppins"/>
              </a:defRPr>
            </a:pPr>
            <a:r>
              <a:t>07 /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Poppins"/>
              </a:defRPr>
            </a:pPr>
            <a:r>
              <a:t>●  Bos Depot Apps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EBF4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0080"/>
            <a:ext cx="3188970" cy="5669280"/>
          </a:xfrm>
          <a:prstGeom prst="rect">
            <a:avLst/>
          </a:prstGeom>
        </p:spPr>
      </p:pic>
      <p:pic>
        <p:nvPicPr>
          <p:cNvPr id="3" name="Picture 2" descr="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640080"/>
            <a:ext cx="3188970" cy="5669280"/>
          </a:xfrm>
          <a:prstGeom prst="rect">
            <a:avLst/>
          </a:prstGeom>
        </p:spPr>
      </p:pic>
      <p:pic>
        <p:nvPicPr>
          <p:cNvPr id="4" name="Picture 3" descr="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640080"/>
            <a:ext cx="3188970" cy="56692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80425" y="109728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defRPr sz="900" b="1">
                <a:solidFill>
                  <a:srgbClr val="00796B"/>
                </a:solidFill>
                <a:latin typeface="Poppins"/>
              </a:defRPr>
            </a:pPr>
            <a:r>
              <a:t>FITUR UTAMA #5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80425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A2647"/>
                </a:solidFill>
                <a:latin typeface="Poppins"/>
              </a:defRPr>
            </a:pPr>
            <a:r>
              <a:rPr dirty="0" err="1"/>
              <a:t>Arus</a:t>
            </a:r>
            <a:r>
              <a:rPr dirty="0"/>
              <a:t> Kas &amp;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0425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A2647"/>
                </a:solidFill>
                <a:latin typeface="Poppins"/>
              </a:defRPr>
            </a:pPr>
            <a:r>
              <a:rPr dirty="0" err="1"/>
              <a:t>Buku</a:t>
            </a:r>
            <a:r>
              <a:rPr dirty="0"/>
              <a:t> </a:t>
            </a:r>
            <a:r>
              <a:rPr dirty="0" err="1"/>
              <a:t>Piutang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980425" y="2560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Poppins"/>
              </a:defRPr>
            </a:pPr>
            <a:r>
              <a:t>Pantau setiap rupiah yang masuk dan keluar secara real-time.</a:t>
            </a:r>
          </a:p>
        </p:txBody>
      </p:sp>
      <p:sp>
        <p:nvSpPr>
          <p:cNvPr id="9" name="Oval 8"/>
          <p:cNvSpPr/>
          <p:nvPr/>
        </p:nvSpPr>
        <p:spPr>
          <a:xfrm>
            <a:off x="7980425" y="3273552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63305" y="32004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Poppins"/>
              </a:rPr>
              <a:t>Profit Tracker — </a:t>
            </a:r>
            <a:r>
              <a:rPr sz="1200">
                <a:solidFill>
                  <a:srgbClr val="64748B"/>
                </a:solidFill>
                <a:latin typeface="Poppins"/>
              </a:rPr>
              <a:t>Riwayat pemasukan vs pengeluaran + sisa profit bersih</a:t>
            </a:r>
          </a:p>
        </p:txBody>
      </p:sp>
      <p:sp>
        <p:nvSpPr>
          <p:cNvPr id="11" name="Oval 10"/>
          <p:cNvSpPr/>
          <p:nvPr/>
        </p:nvSpPr>
        <p:spPr>
          <a:xfrm>
            <a:off x="7980425" y="3776472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63305" y="370332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Poppins"/>
              </a:rPr>
              <a:t>Cash Flow — </a:t>
            </a:r>
            <a:r>
              <a:rPr sz="1200">
                <a:solidFill>
                  <a:srgbClr val="64748B"/>
                </a:solidFill>
                <a:latin typeface="Poppins"/>
              </a:rPr>
              <a:t>Timeline setiap transaksi: stok masuk, penjualan, bensin</a:t>
            </a:r>
          </a:p>
        </p:txBody>
      </p:sp>
      <p:sp>
        <p:nvSpPr>
          <p:cNvPr id="13" name="Oval 12"/>
          <p:cNvSpPr/>
          <p:nvPr/>
        </p:nvSpPr>
        <p:spPr>
          <a:xfrm>
            <a:off x="7980425" y="4279392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63305" y="42062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Poppins"/>
              </a:rPr>
              <a:t>Buku Piutang — </a:t>
            </a:r>
            <a:r>
              <a:rPr sz="1200">
                <a:solidFill>
                  <a:srgbClr val="64748B"/>
                </a:solidFill>
                <a:latin typeface="Poppins"/>
              </a:rPr>
              <a:t>Track hutang per pelanggan + potensi profit piutang</a:t>
            </a:r>
          </a:p>
        </p:txBody>
      </p:sp>
      <p:sp>
        <p:nvSpPr>
          <p:cNvPr id="15" name="Oval 14"/>
          <p:cNvSpPr/>
          <p:nvPr/>
        </p:nvSpPr>
        <p:spPr>
          <a:xfrm>
            <a:off x="7980425" y="4782312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63305" y="470916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1E293B"/>
                </a:solidFill>
                <a:latin typeface="Poppins"/>
              </a:rPr>
              <a:t>Filter Waktu — </a:t>
            </a:r>
            <a:r>
              <a:rPr sz="1200" dirty="0">
                <a:solidFill>
                  <a:srgbClr val="64748B"/>
                </a:solidFill>
                <a:latin typeface="Poppins"/>
              </a:rPr>
              <a:t>Harian, </a:t>
            </a:r>
            <a:r>
              <a:rPr sz="1200" dirty="0" err="1">
                <a:solidFill>
                  <a:srgbClr val="64748B"/>
                </a:solidFill>
                <a:latin typeface="Poppins"/>
              </a:rPr>
              <a:t>kemarin</a:t>
            </a:r>
            <a:r>
              <a:rPr sz="1200" dirty="0">
                <a:solidFill>
                  <a:srgbClr val="64748B"/>
                </a:solidFill>
                <a:latin typeface="Poppins"/>
              </a:rPr>
              <a:t>, 7 </a:t>
            </a:r>
            <a:r>
              <a:rPr sz="1200" dirty="0" err="1">
                <a:solidFill>
                  <a:srgbClr val="64748B"/>
                </a:solidFill>
                <a:latin typeface="Poppins"/>
              </a:rPr>
              <a:t>hari</a:t>
            </a:r>
            <a:r>
              <a:rPr sz="1200" dirty="0">
                <a:solidFill>
                  <a:srgbClr val="64748B"/>
                </a:solidFill>
                <a:latin typeface="Poppins"/>
              </a:rPr>
              <a:t>, </a:t>
            </a:r>
            <a:r>
              <a:rPr sz="1200" dirty="0" err="1">
                <a:solidFill>
                  <a:srgbClr val="64748B"/>
                </a:solidFill>
                <a:latin typeface="Poppins"/>
              </a:rPr>
              <a:t>bulanan</a:t>
            </a:r>
            <a:r>
              <a:rPr sz="1200" dirty="0">
                <a:solidFill>
                  <a:srgbClr val="64748B"/>
                </a:solidFill>
                <a:latin typeface="Poppins"/>
              </a:rPr>
              <a:t>, atau semua </a:t>
            </a:r>
            <a:r>
              <a:rPr sz="1200" dirty="0" err="1">
                <a:solidFill>
                  <a:srgbClr val="64748B"/>
                </a:solidFill>
                <a:latin typeface="Poppins"/>
              </a:rPr>
              <a:t>waktu</a:t>
            </a:r>
            <a:endParaRPr sz="1200" dirty="0">
              <a:solidFill>
                <a:srgbClr val="64748B"/>
              </a:solidFill>
              <a:latin typeface="Poppi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78992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Poppins"/>
              </a:defRPr>
            </a:pPr>
            <a:r>
              <a:t>08 /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Poppins"/>
              </a:defRPr>
            </a:pPr>
            <a:r>
              <a:t>●  Bos Depot Apps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73152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defRPr sz="900" b="1">
                <a:solidFill>
                  <a:srgbClr val="F39C12"/>
                </a:solidFill>
                <a:latin typeface="Poppins"/>
              </a:defRPr>
            </a:pPr>
            <a:r>
              <a:t>FITUR UTAMA #6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A2647"/>
                </a:solidFill>
                <a:latin typeface="Poppins"/>
              </a:defRPr>
            </a:pPr>
            <a:r>
              <a:t>Riwayat Transaksi Lengkap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7627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Poppins"/>
              </a:defRPr>
            </a:pPr>
            <a:r>
              <a:t>Akses seluruh histori penjualan, stok masuk, dan operasional kapan saja dengan filter waktu fleksibel.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3026664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95351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Poppins"/>
              </a:rPr>
              <a:t>Histori Omset — </a:t>
            </a:r>
            <a:r>
              <a:rPr sz="1200">
                <a:solidFill>
                  <a:srgbClr val="64748B"/>
                </a:solidFill>
                <a:latin typeface="Poppins"/>
              </a:rPr>
              <a:t>Semua transaksi tercatat lengkap — status Lunas &amp; Hutang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529584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45643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Poppins"/>
              </a:rPr>
              <a:t>214+ Nota — </a:t>
            </a:r>
            <a:r>
              <a:rPr sz="1200">
                <a:solidFill>
                  <a:srgbClr val="64748B"/>
                </a:solidFill>
                <a:latin typeface="Poppins"/>
              </a:rPr>
              <a:t>Total nota terproses dengan total omset Rp 188 juta+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032504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95935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Poppins"/>
              </a:rPr>
              <a:t>Filter Cerdas — </a:t>
            </a:r>
            <a:r>
              <a:rPr sz="1200">
                <a:solidFill>
                  <a:srgbClr val="64748B"/>
                </a:solidFill>
                <a:latin typeface="Poppins"/>
              </a:rPr>
              <a:t>Hari ini, bulan ini, semua waktu, atau pilih tanggal custom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535424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46227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Poppins"/>
              </a:rPr>
              <a:t>Invoice Detail — </a:t>
            </a:r>
            <a:r>
              <a:rPr sz="1200">
                <a:solidFill>
                  <a:srgbClr val="64748B"/>
                </a:solidFill>
                <a:latin typeface="Poppins"/>
              </a:rPr>
              <a:t>Klik nota untuk lihat detail item, kasir, dan pembayaran</a:t>
            </a:r>
          </a:p>
        </p:txBody>
      </p:sp>
      <p:pic>
        <p:nvPicPr>
          <p:cNvPr id="13" name="Picture 12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548640"/>
            <a:ext cx="3240405" cy="5760720"/>
          </a:xfrm>
          <a:prstGeom prst="rect">
            <a:avLst/>
          </a:prstGeom>
        </p:spPr>
      </p:pic>
      <p:pic>
        <p:nvPicPr>
          <p:cNvPr id="14" name="Picture 13" descr="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548640"/>
            <a:ext cx="3240405" cy="5760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78992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Poppins"/>
              </a:defRPr>
            </a:pPr>
            <a:r>
              <a:t>09 /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Poppins"/>
              </a:defRPr>
            </a:pPr>
            <a:r>
              <a:t>●  Bos Depot Apps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EBF4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7315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defRPr sz="900" b="1">
                <a:solidFill>
                  <a:srgbClr val="F39C12"/>
                </a:solidFill>
                <a:latin typeface="Poppins"/>
              </a:defRPr>
            </a:pPr>
            <a:r>
              <a:t>KEAMANAN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A2647"/>
                </a:solidFill>
                <a:latin typeface="Poppins"/>
              </a:defRPr>
            </a:pPr>
            <a:r>
              <a:t>Multi-Layer Security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174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Poppins"/>
              </a:defRPr>
            </a:pPr>
            <a:r>
              <a:t>6 lapisan keamanan melindungi data bisnis dari akses tidak sah.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03220"/>
            <a:ext cx="246888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30129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93B"/>
                </a:solidFill>
                <a:latin typeface="Poppins"/>
              </a:defRPr>
            </a:pPr>
            <a:r>
              <a:t>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9946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293B"/>
                </a:solidFill>
                <a:latin typeface="Poppins"/>
              </a:defRPr>
            </a:pPr>
            <a:r>
              <a:t>Firebase 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2506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Poppins"/>
              </a:defRPr>
            </a:pPr>
            <a:r>
              <a:t>Login Email &amp; Google OAuth 2.0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903220"/>
            <a:ext cx="246888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40" y="30129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93B"/>
                </a:solidFill>
                <a:latin typeface="Poppins"/>
              </a:defRPr>
            </a:pPr>
            <a:r>
              <a:t>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40" y="29946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293B"/>
                </a:solidFill>
                <a:latin typeface="Poppins"/>
              </a:defRPr>
            </a:pPr>
            <a:r>
              <a:t>PIN Keamanan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32506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Poppins"/>
              </a:defRPr>
            </a:pPr>
            <a:r>
              <a:t>PIN 6 digit khusus pemilik toko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54780"/>
            <a:ext cx="246888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40645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93B"/>
                </a:solidFill>
                <a:latin typeface="Poppins"/>
              </a:defRPr>
            </a:pPr>
            <a:r>
              <a:t>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0462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293B"/>
                </a:solidFill>
                <a:latin typeface="Poppins"/>
              </a:defRPr>
            </a:pPr>
            <a:r>
              <a:t>Biometrik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3022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Poppins"/>
              </a:defRPr>
            </a:pPr>
            <a:r>
              <a:t>Sidik jari &amp; Face 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3954780"/>
            <a:ext cx="246888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20440" y="40645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93B"/>
                </a:solidFill>
                <a:latin typeface="Poppins"/>
              </a:defRPr>
            </a:pPr>
            <a:r>
              <a:t>⏱️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40462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293B"/>
                </a:solidFill>
                <a:latin typeface="Poppins"/>
              </a:defRPr>
            </a:pPr>
            <a:r>
              <a:t>Auto-Logout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40" y="43022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Poppins"/>
              </a:defRPr>
            </a:pPr>
            <a:r>
              <a:t>Sesi pemilik expired 10 menit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06340"/>
            <a:ext cx="246888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51160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93B"/>
                </a:solidFill>
                <a:latin typeface="Poppins"/>
              </a:defRPr>
            </a:pPr>
            <a:r>
              <a:t>🛡️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0977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293B"/>
                </a:solidFill>
                <a:latin typeface="Poppins"/>
              </a:defRPr>
            </a:pPr>
            <a:r>
              <a:t>Enkripsi Sesi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3538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Poppins"/>
              </a:defRPr>
            </a:pPr>
            <a:r>
              <a:t>Secure storage terenkripsi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5006340"/>
            <a:ext cx="246888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20440" y="51160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93B"/>
                </a:solidFill>
                <a:latin typeface="Poppins"/>
              </a:defRPr>
            </a:pPr>
            <a:r>
              <a:t>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40" y="50977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293B"/>
                </a:solidFill>
                <a:latin typeface="Poppins"/>
              </a:defRPr>
            </a:pPr>
            <a:r>
              <a:t>Role-Based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40" y="53538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Poppins"/>
              </a:defRPr>
            </a:pPr>
            <a:r>
              <a:t>Akses berbeda: Owner vs Karyawan</a:t>
            </a:r>
          </a:p>
        </p:txBody>
      </p:sp>
      <p:pic>
        <p:nvPicPr>
          <p:cNvPr id="29" name="Picture 28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48640"/>
            <a:ext cx="3240405" cy="57607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78992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Poppins"/>
              </a:defRPr>
            </a:pPr>
            <a:r>
              <a:t>10 /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Poppins"/>
              </a:defRPr>
            </a:pPr>
            <a:r>
              <a:t>●  Bos Depot Apps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2647"/>
            </a:gs>
            <a:gs pos="100000">
              <a:srgbClr val="144272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1828800"/>
            <a:ext cx="4572000" cy="45720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64480" y="576072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A3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Poppins"/>
              </a:defRPr>
            </a:pPr>
            <a:r>
              <a:t>TEKNOLOGI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Poppins"/>
              </a:defRPr>
            </a:pPr>
            <a:r>
              <a:t>Tech Stack yang Digunakan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ABBCC"/>
                </a:solidFill>
                <a:latin typeface="Poppins"/>
              </a:defRPr>
            </a:pPr>
            <a:r>
              <a:t>Dibangun dengan teknologi modern untuk performa, skalabilitas, dan pengalaman pengguna terbaik.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6459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49808" y="2395728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225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E293B"/>
                </a:solidFill>
                <a:latin typeface="Poppins"/>
              </a:defRPr>
            </a:pPr>
            <a:r>
              <a:t>Flutter &amp; Dart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599" y="2286000"/>
            <a:ext cx="16459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624327" y="2395728"/>
            <a:ext cx="109728" cy="109728"/>
          </a:xfrm>
          <a:prstGeom prst="ellips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88919" y="23225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E293B"/>
                </a:solidFill>
                <a:latin typeface="Poppins"/>
              </a:defRPr>
            </a:pPr>
            <a:r>
              <a:t>Firebase Firestore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18" y="2286000"/>
            <a:ext cx="16459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498846" y="2395728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38" y="23225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E293B"/>
                </a:solidFill>
                <a:latin typeface="Poppins"/>
              </a:defRPr>
            </a:pPr>
            <a:r>
              <a:t>Firebase Auth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37" y="2286000"/>
            <a:ext cx="16459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373365" y="2395728"/>
            <a:ext cx="109728" cy="109728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57" y="23225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E293B"/>
                </a:solidFill>
                <a:latin typeface="Poppins"/>
              </a:defRPr>
            </a:pPr>
            <a:r>
              <a:t>SQLite (Offline)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56" y="2286000"/>
            <a:ext cx="16459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47884" y="2395728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6" y="23225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E293B"/>
                </a:solidFill>
                <a:latin typeface="Poppins"/>
              </a:defRPr>
            </a:pPr>
            <a:r>
              <a:t>GetX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12675" y="2286000"/>
            <a:ext cx="16459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122403" y="2395728"/>
            <a:ext cx="109728" cy="109728"/>
          </a:xfrm>
          <a:prstGeom prst="ellipse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86995" y="23225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E293B"/>
                </a:solidFill>
                <a:latin typeface="Poppins"/>
              </a:defRPr>
            </a:pPr>
            <a:r>
              <a:t>ESC/POS Printing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2788920"/>
            <a:ext cx="16459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49808" y="2898648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282549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E293B"/>
                </a:solidFill>
                <a:latin typeface="Poppins"/>
              </a:defRPr>
            </a:pPr>
            <a:r>
              <a:t>Google Sign-In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14599" y="2788920"/>
            <a:ext cx="16459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624327" y="2898648"/>
            <a:ext cx="109728" cy="109728"/>
          </a:xfrm>
          <a:prstGeom prst="ellips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88919" y="282549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E293B"/>
                </a:solidFill>
                <a:latin typeface="Poppins"/>
              </a:defRPr>
            </a:pPr>
            <a:r>
              <a:t>FL Chart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18" y="2788920"/>
            <a:ext cx="16459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498846" y="2898648"/>
            <a:ext cx="109728" cy="109728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63438" y="282549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E293B"/>
                </a:solidFill>
                <a:latin typeface="Poppins"/>
              </a:defRPr>
            </a:pPr>
            <a:r>
              <a:t>Bluetooth Thermal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37" y="2788920"/>
            <a:ext cx="16459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373365" y="2898648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37957" y="282549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E293B"/>
                </a:solidFill>
                <a:latin typeface="Poppins"/>
              </a:defRPr>
            </a:pPr>
            <a:r>
              <a:t>Biometric Auth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56" y="2788920"/>
            <a:ext cx="16459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247884" y="2898648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12476" y="282549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E293B"/>
                </a:solidFill>
                <a:latin typeface="Poppins"/>
              </a:defRPr>
            </a:pPr>
            <a:r>
              <a:t>CSV Export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12675" y="2788920"/>
            <a:ext cx="16459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122403" y="2898648"/>
            <a:ext cx="109728" cy="109728"/>
          </a:xfrm>
          <a:prstGeom prst="ellipse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286995" y="282549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E293B"/>
                </a:solidFill>
                <a:latin typeface="Poppins"/>
              </a:defRPr>
            </a:pPr>
            <a:r>
              <a:t>Barcode Scanner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80160" y="3840480"/>
            <a:ext cx="1737360" cy="1097280"/>
          </a:xfrm>
          <a:prstGeom prst="roundRect">
            <a:avLst>
              <a:gd name="adj" fmla="val 5000"/>
            </a:avLst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80160" y="3977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39C12"/>
                </a:solidFill>
                <a:latin typeface="Poppins"/>
              </a:defRPr>
            </a:pPr>
            <a:r>
              <a:t>33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4480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99AA"/>
                </a:solidFill>
                <a:latin typeface="Poppins"/>
              </a:defRPr>
            </a:pPr>
            <a:r>
              <a:t>Halaman UI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0" y="3840480"/>
            <a:ext cx="1737360" cy="1097280"/>
          </a:xfrm>
          <a:prstGeom prst="roundRect">
            <a:avLst>
              <a:gd name="adj" fmla="val 5000"/>
            </a:avLst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0" y="3977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39C12"/>
                </a:solidFill>
                <a:latin typeface="Poppins"/>
              </a:defRPr>
            </a:pPr>
            <a:r>
              <a:t>22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4480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99AA"/>
                </a:solidFill>
                <a:latin typeface="Poppins"/>
              </a:defRPr>
            </a:pPr>
            <a:r>
              <a:t>Controller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35040" y="3840480"/>
            <a:ext cx="1737360" cy="1097280"/>
          </a:xfrm>
          <a:prstGeom prst="roundRect">
            <a:avLst>
              <a:gd name="adj" fmla="val 5000"/>
            </a:avLst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035040" y="3977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39C12"/>
                </a:solidFill>
                <a:latin typeface="Poppins"/>
              </a:defRPr>
            </a:pPr>
            <a:r>
              <a:t>24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4480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99AA"/>
                </a:solidFill>
                <a:latin typeface="Poppins"/>
              </a:defRPr>
            </a:pPr>
            <a:r>
              <a:t>Data Source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412480" y="3840480"/>
            <a:ext cx="1737360" cy="1097280"/>
          </a:xfrm>
          <a:prstGeom prst="roundRect">
            <a:avLst>
              <a:gd name="adj" fmla="val 5000"/>
            </a:avLst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412480" y="3977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39C12"/>
                </a:solidFill>
                <a:latin typeface="Poppins"/>
              </a:defRPr>
            </a:pPr>
            <a:r>
              <a:t>30+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4480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99AA"/>
                </a:solidFill>
                <a:latin typeface="Poppins"/>
              </a:defRPr>
            </a:pPr>
            <a:r>
              <a:t>Dependencies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8992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56677"/>
                </a:solidFill>
                <a:latin typeface="Poppins"/>
              </a:defRPr>
            </a:pPr>
            <a:r>
              <a:t>11 / 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45566"/>
                </a:solidFill>
                <a:latin typeface="Poppins"/>
              </a:defRPr>
            </a:pPr>
            <a:r>
              <a:t>●  Bos Depot Apps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EBF4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273040" y="3657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defRPr sz="900" b="1">
                <a:solidFill>
                  <a:srgbClr val="F39C12"/>
                </a:solidFill>
                <a:latin typeface="Poppins"/>
              </a:defRPr>
            </a:pPr>
            <a:r>
              <a:rPr dirty="0"/>
              <a:t>DAMPAK &amp; HASIL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A2647"/>
                </a:solidFill>
                <a:latin typeface="Poppins"/>
              </a:defRPr>
            </a:pPr>
            <a:r>
              <a:t>Dampak Nyata untuk Bisnis Klien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325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Poppins"/>
              </a:defRPr>
            </a:pPr>
            <a:r>
              <a:t>Aplikasi ini sudah berjalan dan digunakan oleh klien toko bangunan secara aktif setiap hari.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01168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E293B"/>
                </a:solidFill>
                <a:latin typeface="Poppins"/>
              </a:defRPr>
            </a:pPr>
            <a:r>
              <a:t>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468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A2647"/>
                </a:solidFill>
                <a:latin typeface="Poppins"/>
              </a:defRPr>
            </a:pPr>
            <a:r>
              <a:t>Rp 188 Juta+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Poppins"/>
              </a:defRPr>
            </a:pPr>
            <a:r>
              <a:t>Total omset yang berhasil dikelola</a:t>
            </a:r>
            <a:br/>
            <a:r>
              <a:t>melalui sistem aplikasi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01168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E293B"/>
                </a:solidFill>
                <a:latin typeface="Poppins"/>
              </a:defRPr>
            </a:pPr>
            <a:r>
              <a:t>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A2647"/>
                </a:solidFill>
                <a:latin typeface="Poppins"/>
              </a:defRPr>
            </a:pPr>
            <a:r>
              <a:t>214+ Nota Terproses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Poppins"/>
              </a:defRPr>
            </a:pPr>
            <a:r>
              <a:t>Transaksi tercatat rapi dengan</a:t>
            </a:r>
            <a:br/>
            <a:r>
              <a:t>invoice otomatis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201168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E293B"/>
                </a:solidFill>
                <a:latin typeface="Poppins"/>
              </a:defRPr>
            </a:pPr>
            <a: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2468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A2647"/>
                </a:solidFill>
                <a:latin typeface="Poppins"/>
              </a:defRPr>
            </a:pPr>
            <a:r>
              <a:t>Rp 170 Juta Piutang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Poppins"/>
              </a:defRPr>
            </a:pPr>
            <a:r>
              <a:t>Tercatat &amp; terlacak — tidak ada</a:t>
            </a:r>
            <a:br/>
            <a:r>
              <a:t>lagi hutang yang terlupakan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356616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3657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E293B"/>
                </a:solidFill>
                <a:latin typeface="Poppins"/>
              </a:defRPr>
            </a:pPr>
            <a: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023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A2647"/>
                </a:solidFill>
                <a:latin typeface="Poppins"/>
              </a:defRPr>
            </a:pPr>
            <a:r>
              <a:t>10x Lebih Cepat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343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Poppins"/>
              </a:defRPr>
            </a:pPr>
            <a:r>
              <a:t>Proses transaksi dari 5 menit</a:t>
            </a:r>
            <a:br/>
            <a:r>
              <a:t>menjadi 30 detik per nota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56616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3657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E293B"/>
                </a:solidFill>
                <a:latin typeface="Poppins"/>
              </a:defRPr>
            </a:pPr>
            <a:r>
              <a:t>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023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A2647"/>
                </a:solidFill>
                <a:latin typeface="Poppins"/>
              </a:defRPr>
            </a:pPr>
            <a:r>
              <a:t>Cross-Platform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343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Poppins"/>
              </a:defRPr>
            </a:pPr>
            <a:r>
              <a:t>Berjalan di Android &amp; iOS</a:t>
            </a:r>
            <a:br/>
            <a:r>
              <a:t>dengan satu codebase Flutter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80" y="356616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55280" y="3657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E293B"/>
                </a:solidFill>
                <a:latin typeface="Poppins"/>
              </a:defRPr>
            </a:pPr>
            <a:r>
              <a:t>☁️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4023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A2647"/>
                </a:solidFill>
                <a:latin typeface="Poppins"/>
              </a:defRPr>
            </a:pPr>
            <a:r>
              <a:t>Cloud-Synced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4343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Poppins"/>
              </a:defRPr>
            </a:pPr>
            <a:r>
              <a:t>Data aman di cloud Firebase</a:t>
            </a:r>
            <a:br/>
            <a:r>
              <a:t>+ bisa diakses offline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0" y="5486400"/>
            <a:ext cx="4389120" cy="502920"/>
          </a:xfrm>
          <a:prstGeom prst="roundRect">
            <a:avLst>
              <a:gd name="adj" fmla="val 5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40480" y="55321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A2647"/>
                </a:solidFill>
                <a:latin typeface="Poppins"/>
              </a:defRPr>
            </a:pPr>
            <a:r>
              <a:t>💼  Hubungi Saya di LinkedIn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6080760"/>
            <a:ext cx="8229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Poppins"/>
              </a:defRPr>
            </a:pPr>
            <a:r>
              <a:rPr dirty="0"/>
              <a:t>Akbar Alfaidah — </a:t>
            </a:r>
            <a:r>
              <a:rPr lang="en-US" dirty="0"/>
              <a:t>Web and App</a:t>
            </a:r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1078992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Poppins"/>
              </a:defRPr>
            </a:pPr>
            <a:r>
              <a:t>12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Poppins"/>
              </a:defRPr>
            </a:pPr>
            <a:r>
              <a:t>●  Bos Depot Apps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944</Words>
  <Application>Microsoft Office PowerPoint</Application>
  <PresentationFormat>Widescreen</PresentationFormat>
  <Paragraphs>185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Akbar Alfaidah</cp:lastModifiedBy>
  <cp:revision>4</cp:revision>
  <dcterms:created xsi:type="dcterms:W3CDTF">2013-01-27T09:14:16Z</dcterms:created>
  <dcterms:modified xsi:type="dcterms:W3CDTF">2026-06-22T05:01:21Z</dcterms:modified>
  <cp:category/>
</cp:coreProperties>
</file>